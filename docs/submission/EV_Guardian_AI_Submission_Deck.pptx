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What actually drives predicted SOH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 (SOH regressor)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Cumulative
cycles</c:v>
                  </c:pt>
                  <c:pt idx="1">
                    <c:v>Brake
wear %</c:v>
                  </c:pt>
                  <c:pt idx="2">
                    <c:v>Days since
commission</c:v>
                  </c:pt>
                  <c:pt idx="3">
                    <c:v>Ambient
temp</c:v>
                  </c:pt>
                  <c:pt idx="4">
                    <c:v>Odometer</c:v>
                  </c:pt>
                  <c:pt idx="5">
                    <c:v>Tyre
wear %</c:v>
                  </c:pt>
                  <c:pt idx="6">
                    <c:v>Daily
km</c:v>
                  </c:pt>
                  <c:pt idx="7">
                    <c:v>Motor
temp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0.584</c:v>
                </c:pt>
                <c:pt idx="1">
                  <c:v>0.297</c:v>
                </c:pt>
                <c:pt idx="2">
                  <c:v>0.071</c:v>
                </c:pt>
                <c:pt idx="3">
                  <c:v>0.025</c:v>
                </c:pt>
                <c:pt idx="4">
                  <c:v>0.007</c:v>
                </c:pt>
                <c:pt idx="5">
                  <c:v>0.01</c:v>
                </c:pt>
                <c:pt idx="6">
                  <c:v>0.003</c:v>
                </c:pt>
                <c:pt idx="7">
                  <c:v>0.004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Readiness index: model vs. baseline (sample vehicles)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model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V-014</c:v>
                  </c:pt>
                  <c:pt idx="1">
                    <c:v>V-027</c:v>
                  </c:pt>
                  <c:pt idx="2">
                    <c:v>V-052</c:v>
                  </c:pt>
                  <c:pt idx="3">
                    <c:v>V-075</c:v>
                  </c:pt>
                  <c:pt idx="4">
                    <c:v>V-091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71</c:v>
                </c:pt>
                <c:pt idx="2">
                  <c:v>45</c:v>
                </c:pt>
                <c:pt idx="3">
                  <c:v>67</c:v>
                </c:pt>
                <c:pt idx="4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Simple baseline</c:v>
                </c:pt>
              </c:strCache>
            </c:strRef>
          </c:tx>
          <c:spPr>
            <a:solidFill>
              <a:srgbClr val="B7C9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V-014</c:v>
                  </c:pt>
                  <c:pt idx="1">
                    <c:v>V-027</c:v>
                  </c:pt>
                  <c:pt idx="2">
                    <c:v>V-052</c:v>
                  </c:pt>
                  <c:pt idx="3">
                    <c:v>V-075</c:v>
                  </c:pt>
                  <c:pt idx="4">
                    <c:v>V-091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</c:v>
                </c:pt>
                <c:pt idx="1">
                  <c:v>52</c:v>
                </c:pt>
                <c:pt idx="2">
                  <c:v>30</c:v>
                </c:pt>
                <c:pt idx="3">
                  <c:v>26</c:v>
                </c:pt>
                <c:pt idx="4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50" b="0" i="0" u="none" strike="noStrike">
                <a:solidFill>
                  <a:srgbClr val="0B1F3A"/>
                </a:solidFill>
                <a:latin typeface="Arial"/>
              </a:rPr>
              <a:t>Defect-risk classifier — held-out test set (n=450)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Test-set performance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ROC-AUC</c:v>
                  </c:pt>
                  <c:pt idx="4">
                    <c:v>Accuracy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0.657</c:v>
                </c:pt>
                <c:pt idx="1">
                  <c:v>0.411</c:v>
                </c:pt>
                <c:pt idx="2">
                  <c:v>0.505</c:v>
                </c:pt>
                <c:pt idx="3">
                  <c:v>0.827</c:v>
                </c:pt>
                <c:pt idx="4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EV fleet emissions composition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Emissions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bubble3D val="0"/>
            <c:spPr>
              <a:solidFill>
                <a:srgbClr val="2DE1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Scope 1 (tailpipe)</c:v>
                </c:pt>
                <c:pt idx="1">
                  <c:v>Scope 2 (grid electricity)</c:v>
                </c:pt>
                <c:pt idx="2">
                  <c:v>Scope 3 (upstream battery)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</c:v>
                </c:pt>
                <c:pt idx="1">
                  <c:v>78</c:v>
                </c:pt>
                <c:pt idx="2">
                  <c:v>22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BD8E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2DE1A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65562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E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EV ASSET INTELLIGENCE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Guardian 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94360" y="3931920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command center that gives fleet operators and EV manufacturers the same asset-performance rigour used on conventional industrial equipment — applied to battery health, procurement, supply-chain risk, quality, and carbon.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/ EV Manufacturing / Asset Performance Management / Supply 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isn't cost anymore — it's operational confidence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registered 2M+ EVs in FY2025, and FAME-II has disbursed ₹10,000+ crore in incentives — yet industrial adoption still lags far behind consumer EVs.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706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registered in India, FY2025 (SIAM)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7706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vehicle sales are EVs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BEF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27706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in industrial/commercial fleets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8745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20574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277063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EV target for 2030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 lack asset-intelligence tools for EV procurement, battery lifecycle, and maintenance rigour.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manufacturers face battery-grade lithium/cobalt/nickel sourcing risk and cell-to-pack quality traceability gaps.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fleet and supply-chain tools handle neither problem well — this needs a purpose-built asset + supply-chain intelligence layer.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both sides of the industrial EV transition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507" y="163174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APM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SOH, RUL, and failure-risk prediction from telemetry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55448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547" y="163174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Optimizer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2628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risk into workshop bay, shift, and charger plans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55448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587" y="163174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240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Readiness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75320" y="2606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Route-level electrification readiness, OEM fit, ROI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5204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74904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07" y="3826307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Quality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77240" y="4800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drift detection + ML defect-risk classifier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297680" y="35204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26280" y="374904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3547" y="3826307"/>
            <a:ext cx="439826" cy="43982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2628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Traceability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526280" y="4800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risk, geopolitical exposure, cell-to-vehicle genealogy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046720" y="35204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75320" y="374904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587" y="3826307"/>
            <a:ext cx="439826" cy="43982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75320" y="4434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Intelligence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275320" y="48006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 tracking vs ICE-equivalent baseline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data to decision, via specialist agents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8884" y="16002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13304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8884" y="16002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34844" y="2080260"/>
            <a:ext cx="256032" cy="0"/>
          </a:xfrm>
          <a:prstGeom prst="line">
            <a:avLst/>
          </a:prstGeom>
          <a:noFill/>
          <a:ln w="25400">
            <a:solidFill>
              <a:srgbClr val="2DE1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90876" y="16002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13304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0876" y="16002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Store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56836" y="2080260"/>
            <a:ext cx="256032" cy="0"/>
          </a:xfrm>
          <a:prstGeom prst="line">
            <a:avLst/>
          </a:prstGeom>
          <a:noFill/>
          <a:ln w="25400">
            <a:solidFill>
              <a:srgbClr val="2DE1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12868" y="16002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13304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2868" y="16002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78828" y="2080260"/>
            <a:ext cx="256032" cy="0"/>
          </a:xfrm>
          <a:prstGeom prst="line">
            <a:avLst/>
          </a:prstGeom>
          <a:noFill/>
          <a:ln w="25400">
            <a:solidFill>
              <a:srgbClr val="2DE1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34860" y="16002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13304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4860" y="16002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(LangGraph)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00820" y="2080260"/>
            <a:ext cx="256032" cy="0"/>
          </a:xfrm>
          <a:prstGeom prst="line">
            <a:avLst/>
          </a:prstGeom>
          <a:noFill/>
          <a:ln w="25400">
            <a:solidFill>
              <a:srgbClr val="2DE1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56852" y="1600200"/>
            <a:ext cx="1965960" cy="960120"/>
          </a:xfrm>
          <a:prstGeom prst="roundRect">
            <a:avLst>
              <a:gd name="adj" fmla="val 6667"/>
            </a:avLst>
          </a:prstGeom>
          <a:solidFill>
            <a:srgbClr val="13304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6852" y="160020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 dispatched by the router node: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330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5661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80" y="3631540"/>
            <a:ext cx="372161" cy="37216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34290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Agent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383280" y="342900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3304F"/>
          </a:solidFill>
          <a:ln/>
        </p:spPr>
      </p:sp>
      <p:sp>
        <p:nvSpPr>
          <p:cNvPr id="23" name="Shape 20"/>
          <p:cNvSpPr/>
          <p:nvPr/>
        </p:nvSpPr>
        <p:spPr>
          <a:xfrm>
            <a:off x="3520440" y="35661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20" y="3631540"/>
            <a:ext cx="372161" cy="37216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160520" y="34290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APM Agent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217920" y="342900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3304F"/>
          </a:solidFill>
          <a:ln/>
        </p:spPr>
      </p:sp>
      <p:sp>
        <p:nvSpPr>
          <p:cNvPr id="27" name="Shape 23"/>
          <p:cNvSpPr/>
          <p:nvPr/>
        </p:nvSpPr>
        <p:spPr>
          <a:xfrm>
            <a:off x="6355080" y="35661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60" y="3631540"/>
            <a:ext cx="372161" cy="372161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995160" y="34290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Agent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548640" y="43891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3304F"/>
          </a:solidFill>
          <a:ln/>
        </p:spPr>
      </p:sp>
      <p:sp>
        <p:nvSpPr>
          <p:cNvPr id="31" name="Shape 26"/>
          <p:cNvSpPr/>
          <p:nvPr/>
        </p:nvSpPr>
        <p:spPr>
          <a:xfrm>
            <a:off x="685800" y="45262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0" y="4591660"/>
            <a:ext cx="372161" cy="372161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325880" y="43891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Agent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3383280" y="43891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3304F"/>
          </a:solidFill>
          <a:ln/>
        </p:spPr>
      </p:sp>
      <p:sp>
        <p:nvSpPr>
          <p:cNvPr id="35" name="Shape 29"/>
          <p:cNvSpPr/>
          <p:nvPr/>
        </p:nvSpPr>
        <p:spPr>
          <a:xfrm>
            <a:off x="3520440" y="45262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5820" y="4591660"/>
            <a:ext cx="372161" cy="372161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160520" y="43891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Agent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6217920" y="43891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3304F"/>
          </a:solidFill>
          <a:ln/>
        </p:spPr>
      </p:sp>
      <p:sp>
        <p:nvSpPr>
          <p:cNvPr id="39" name="Shape 32"/>
          <p:cNvSpPr/>
          <p:nvPr/>
        </p:nvSpPr>
        <p:spPr>
          <a:xfrm>
            <a:off x="6355080" y="452628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460" y="4591660"/>
            <a:ext cx="372161" cy="372161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995160" y="43891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Agent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7223760" y="29718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-&gt; parallel specialists -&gt; Reporting Agent (Gemini synthesis, deterministic fallback if offline)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Asset Performance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real, held-out-validated XGBoost models — not hardcoded formulas.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309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554480"/>
            <a:ext cx="4434840" cy="3200400"/>
          </a:xfrm>
          <a:prstGeom prst="roundRect">
            <a:avLst>
              <a:gd name="adj" fmla="val 2286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0664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results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06640" y="214884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Regressor  —  R² 0.94+, low MAE on unseen vehicles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Classifier  —  Accuracy 99.6%, ROC-AUC 0.999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estimated via degradation-rate extrapolation to an EOL threshold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13,344 telemetry rows across 100 vehicles with physically-grounded aging curves (calendar + cycle aging, Arrhenius temperature acceleration) — not random noise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Operations Optimizer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risk only matters if it becomes an executable plan.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Immediate, this-week, and monthly jobs ranked by failure probability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84448" y="19202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84448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3017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bays assigned against live capacity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91656" y="19202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1656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91656" y="3017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windows chosen to avoid operational conflicts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70264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98864" y="19202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9198864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98864" y="2606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charging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98864" y="30175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uptime cross-checked against maintenance windows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predictive maintenance becomes a real operating plan — reduced unplanned downtime, charger availability matched to shift patterns.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Electrification Readiness &amp; Procurement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readiness index — validated against an independent baseline, not just presented as a black box.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profile &amp; daily km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requirement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 &amp; charger access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model fit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 time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5212080" cy="2240280"/>
          </a:xfrm>
          <a:prstGeom prst="roundRect">
            <a:avLst>
              <a:gd name="adj" fmla="val 3265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an expert-style baseline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48056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range margin + health score only (no charger access, payload, or lead time)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 correlation with the full weighted model across the fleet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is concentrated in borderline cases — exactly where the extra signals (charger access, OEM fit) should matter most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126480" y="160020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Quality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drift detection + a trained defect-risk classifier — precision/recall reported on held-out data, not a single-threshold rule.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08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82512" y="1691640"/>
            <a:ext cx="502920" cy="50292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92" y="175702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5160" y="16459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1,800 inspection batches / 20 suppliers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82512" y="22402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weld temp, torque, cell voltage variance, moisture, electrode thickness. Label = process out of statistical control (not noisy small-sample defect rate).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172200" y="30632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BEF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82512" y="3246120"/>
            <a:ext cx="502920" cy="502920"/>
          </a:xfrm>
          <a:prstGeom prst="ellipse">
            <a:avLst/>
          </a:prstGeom>
          <a:solidFill>
            <a:srgbClr val="F6E2C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892" y="331150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95160" y="3200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drift detection catches it earlier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382512" y="365760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Control-chart z-scores per parameter flag a supplier drifting out of tolerance before enough defective units ship to spike the defect rate.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0B1F3A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E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live alert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SUP-002 (BYD Battery) — moisture_ppm at 62.3 ppm, 3.85σ below control center (120 ppm)  -&gt;  severity: out_of_control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Risk &amp; Traceability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manufacturing-side risk to fleet-side consequences in one intelligence layer.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507" y="195178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0136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exposure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2080" y="1801368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supplier concentration by region (China/DRC-heavy cobalt &amp; lithium routes)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AF2F1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44368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07" y="3021635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87121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&amp; on-time delivery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12080" y="2871216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Rolled up per supplier from inspection history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0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14216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7" y="4091483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41064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certificate gaps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12080" y="3941064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suppliers without verified chain-of-custody documentation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901184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AF2F1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084064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07" y="5161331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01091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lot -&gt; pack -&gt; vehicle genealogy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212080" y="5010912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graph from raw material to fielded asset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progress tied to real assets and routes, not a static annual estimate.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4572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600200"/>
            <a:ext cx="6035040" cy="4023360"/>
          </a:xfrm>
          <a:prstGeom prst="roundRect">
            <a:avLst>
              <a:gd name="adj" fmla="val 1818"/>
            </a:avLst>
          </a:prstGeom>
          <a:solidFill>
            <a:srgbClr val="13304F"/>
          </a:solidFill>
          <a:ln/>
        </p:spPr>
      </p:sp>
      <p:sp>
        <p:nvSpPr>
          <p:cNvPr id="6" name="Text 3"/>
          <p:cNvSpPr/>
          <p:nvPr/>
        </p:nvSpPr>
        <p:spPr>
          <a:xfrm>
            <a:off x="585216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1: zero tailpipe emissions for the EV fleet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85216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2: grid electricity emissions (India grid avg ~0.71 kg CO2/kWh)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852160" y="2834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3: upstream battery/material footprint approximation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85216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a class-specific ICE-equivalent baseline (3W/Sedan/LCV/Truck/Bus each have distinct diesel emission factors — no single flat number)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52160" y="4343400"/>
            <a:ext cx="5394960" cy="960120"/>
          </a:xfrm>
          <a:prstGeom prst="rect">
            <a:avLst/>
          </a:prstGeom>
          <a:solidFill>
            <a:srgbClr val="0E7C7B">
              <a:alpha val="8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437083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electrification priorities ranked by carbon AND operational impact together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Engineering: real stack, real tests, real security hygiene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507" y="154030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FastAPI, SQLAlchemy, SQLite/Postgres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Next.js, TypeScript, Tailwind, Recharts, Leaflet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XGBoost (battery + quality models)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LangGraph routing, Gemini synthesis + offline fallback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2344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46304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547" y="154030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26280" y="260604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pytest tests across all 8 API modules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 database — never the demo DB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SPC drift detection + ML defect prediction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procurement readiness vs. baseline validation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2344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0F7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463040"/>
            <a:ext cx="594360" cy="594360"/>
          </a:xfrm>
          <a:prstGeom prst="ellipse">
            <a:avLst/>
          </a:prstGeom>
          <a:solidFill>
            <a:srgbClr val="DCEE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587" y="154030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275320" y="2606040"/>
            <a:ext cx="3063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secrets committed — .env removed, .env.example only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added for node_modules, .venv, *.db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size cut from 924MB to ~6MB (build artifacts stripped)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Empty/dead scaffolding directories removed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3441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/executive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83280" y="13441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Command-center KPIs and AI-generated insights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/battery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83280" y="19659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transparency and high-risk batteries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151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58775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/maintenance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25877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bay / shift / charger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36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2095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/procurement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83280" y="320954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index, OEM fit, baseline validation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5876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58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8313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/manufacturing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83280" y="38313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drift alerts and defect-risk predictions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80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4531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/supply-chain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383280" y="44531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and cell-pack-vehicle genealogy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102352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102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5074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/carbon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383280" y="50749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1/2/3 and ICE-baseline savings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adoption gap, the manufacturing gap, and the net-zero gap — together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76296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45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gap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97680" y="16459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fleet operators asset intelligence for genuine EV confidence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" y="2723083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gap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297680" y="26060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 makers supplier, quality-drift, and traceability intelligence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368320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566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Net-zero gap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297680" y="356616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electrification targets into ranked, fundable operational actions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4937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E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528523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telematics/BMS streams  •  QMS/MES factory connectors  •  Real OEM &amp; dealer lead-time feeds  •  Charger uptime integrations  •  Certificate-level traceability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Guardian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Guardian AI: Industrial EV Supply Chain and Asset Intelligence</dc:title>
  <dc:subject>PptxGenJS Presentation</dc:subject>
  <dc:creator>EV Guardian AI Team</dc:creator>
  <cp:lastModifiedBy>EV Guardian AI Team</cp:lastModifiedBy>
  <cp:revision>1</cp:revision>
  <dcterms:created xsi:type="dcterms:W3CDTF">2026-07-08T12:10:48Z</dcterms:created>
  <dcterms:modified xsi:type="dcterms:W3CDTF">2026-07-08T12:10:48Z</dcterms:modified>
</cp:coreProperties>
</file>